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0e81a45a2746f3" /><Relationship Type="http://schemas.openxmlformats.org/officeDocument/2006/relationships/extended-properties" Target="/docProps/app.xml" Id="Rf00dba87f0be4aff" /><Relationship Type="http://schemas.openxmlformats.org/officeDocument/2006/relationships/officeDocument" Target="/ppt/presentation.xml" Id="R7d370f1e1de845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b9bac45b454e69"/>
  </p:sldMasterIdLst>
  <p:notesMasterIdLst>
    <p:notesMasterId xmlns:r="http://schemas.openxmlformats.org/officeDocument/2006/relationships" r:id="R60af3bea28a845e6"/>
  </p:notesMasterIdLst>
  <p:sldIdLst>
    <p:sldId xmlns:r="http://schemas.openxmlformats.org/officeDocument/2006/relationships" id="256" r:id="R35d5608a67b94d0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8ed5a68e594d54" /><Relationship Type="http://schemas.openxmlformats.org/officeDocument/2006/relationships/slideMaster" Target="/ppt/slideMasters/slideMaster1.xml" Id="R13b9bac45b454e69" /><Relationship Type="http://schemas.openxmlformats.org/officeDocument/2006/relationships/notesMaster" Target="/ppt/notesMasters/notesMaster1.xml" Id="R60af3bea28a845e6" /><Relationship Type="http://schemas.openxmlformats.org/officeDocument/2006/relationships/presProps" Target="/ppt/presProps.xml" Id="R189b3cbc4f564427" /><Relationship Type="http://schemas.openxmlformats.org/officeDocument/2006/relationships/tableStyles" Target="/ppt/tableStyles.xml" Id="R9f2c0e94a5de480c" /><Relationship Type="http://schemas.openxmlformats.org/officeDocument/2006/relationships/slide" Target="/ppt/slides/slide1.xml" Id="R35d5608a67b94d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b30ca8aaff4d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3d4b72470d487d" /><Relationship Type="http://schemas.openxmlformats.org/officeDocument/2006/relationships/notesMaster" Target="/ppt/notesMasters/notesMaster1.xml" Id="R9c8ed96981154d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为公开合成示例，不涉及真实论文或测量实验。数据来自仓库examples/errors.csv，人工设定3组绝对误差（mm）：方法A=[0.10,0.12,0.14]；方法B=[0.08,0.09,0.10]。算术均值分别为0.12和0.09，差值0.03，相对降低率=(0.12−0.09)/0.12=25%。最小/最大值A为0.10/0.14，B为0.08/0.10。此示例用于展示模板排版和计算方法，不能推断总体表现或统计显著性。模板来自仓库assets/default-template.pptx，标题32pt、说明20pt、结论18pt，字体微软雅黑；图表、表格、文字和分组边框为原生可编辑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e12771bcbc49c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7fb478c2e9480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362db40bf64e0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13f28021bc47f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0c2b8c14b7481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dba488a6b04d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210901-C33C-4956-A1C1-759C00EC48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FC1DC6B-43E9-4FC0-A2CA-12F83053473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1CCF8CB-9D7C-4B4D-9E39-0D242A54E9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B9C3F3-BA4C-4E0C-824A-B325394EA5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ACA0B74-8FFC-495F-B480-1E9C7D586E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D9BAE23-4E49-469F-A917-3201AA0169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21F0D90-32AB-4F5B-B410-EC37998861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2B009D-0311-4AA7-B650-A82A29A8A3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F4D076-2374-451C-98C8-721DE6B71F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F03E687-DC16-4D06-8624-8ABC9904DD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7a283a293444e0" /><Relationship Type="http://schemas.openxmlformats.org/officeDocument/2006/relationships/slideLayout" Target="/ppt/slideLayouts/slideLayout1.xml" Id="R3462e492118145e6" /><Relationship Type="http://schemas.openxmlformats.org/officeDocument/2006/relationships/slideLayout" Target="/ppt/slideLayouts/slideLayout2.xml" Id="R21c4beec48f84436" /><Relationship Type="http://schemas.openxmlformats.org/officeDocument/2006/relationships/slideLayout" Target="/ppt/slideLayouts/slideLayout3.xml" Id="R986b6e6036db4d9f" /><Relationship Type="http://schemas.openxmlformats.org/officeDocument/2006/relationships/slideLayout" Target="/ppt/slideLayouts/slideLayout4.xml" Id="Raa96d28484474d32" /><Relationship Type="http://schemas.openxmlformats.org/officeDocument/2006/relationships/slideLayout" Target="/ppt/slideLayouts/slideLayout5.xml" Id="R6d1aa81f7e9e47ff" /><Relationship Type="http://schemas.openxmlformats.org/officeDocument/2006/relationships/slideLayout" Target="/ppt/slideLayouts/slideLayout6.xml" Id="R1e6596ae63df45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62e492118145e6"/>
    <p:sldLayoutId xmlns:r="http://schemas.openxmlformats.org/officeDocument/2006/relationships" id="2147483650" r:id="R21c4beec48f84436"/>
    <p:sldLayoutId xmlns:r="http://schemas.openxmlformats.org/officeDocument/2006/relationships" id="2147483651" r:id="R986b6e6036db4d9f"/>
    <p:sldLayoutId xmlns:r="http://schemas.openxmlformats.org/officeDocument/2006/relationships" id="2147483652" r:id="Raa96d28484474d32"/>
    <p:sldLayoutId xmlns:r="http://schemas.openxmlformats.org/officeDocument/2006/relationships" id="2147483653" r:id="R6d1aa81f7e9e47ff"/>
    <p:sldLayoutId xmlns:r="http://schemas.openxmlformats.org/officeDocument/2006/relationships" id="2147483654" r:id="R1e6596ae63df45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41958367b34696" /><Relationship Type="http://schemas.openxmlformats.org/officeDocument/2006/relationships/chart" Target="/ppt/slides/charts/chart1.xml" Id="Rcb77bbbe84664d5d" /><Relationship Type="http://schemas.openxmlformats.org/officeDocument/2006/relationships/notesSlide" Target="/ppt/notesSlides/notesSlide1.xml" Id="Rcf4b255d4945444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方法A</c:v>
          </c:tx>
          <c:spPr>
            <a:solidFill xmlns:a="http://schemas.openxmlformats.org/drawingml/2006/main">
              <a:srgbClr val="003399"/>
            </a:solidFill>
            <a:ln xmlns:a="http://schemas.openxmlformats.org/drawingml/2006/main" w="0">
              <a:noFill/>
            </a:ln>
          </c:spPr>
          <c:invertIfNegative val="0"/>
          <c:cat>
            <c:strRef>
              <c:f>'Chart Data'!$A$2:$A$4</c:f>
              <c:strCache>
                <c:ptCount val="3"/>
                <c:pt idx="0">
                  <c:v>试次1</c:v>
                </c:pt>
                <c:pt idx="1">
                  <c:v>试次2</c:v>
                </c:pt>
                <c:pt idx="2">
                  <c:v>试次3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0.1</c:v>
                </c:pt>
                <c:pt idx="1">
                  <c:v>0.12</c:v>
                </c:pt>
                <c:pt idx="2">
                  <c:v>0.14</c:v>
                </c:pt>
              </c:numCache>
            </c:numRef>
          </c:val>
        </c:ser>
        <c:ser>
          <c:idx val="1"/>
          <c:order val="1"/>
          <c:tx>
            <c:v>方法B</c:v>
          </c:tx>
          <c:spPr>
            <a:solidFill xmlns:a="http://schemas.openxmlformats.org/drawingml/2006/main">
              <a:srgbClr val="5B9BD5"/>
            </a:solidFill>
            <a:ln xmlns:a="http://schemas.openxmlformats.org/drawingml/2006/main" w="0">
              <a:noFill/>
            </a:ln>
          </c:spPr>
          <c:invertIfNegative val="0"/>
          <c:cat>
            <c:strRef>
              <c:f>'Chart Data'!$C$2:$C$4</c:f>
              <c:strCache>
                <c:ptCount val="3"/>
                <c:pt idx="0">
                  <c:v>试次1</c:v>
                </c:pt>
                <c:pt idx="1">
                  <c:v>试次2</c:v>
                </c:pt>
                <c:pt idx="2">
                  <c:v>试次3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0.08</c:v>
                </c:pt>
                <c:pt idx="1">
                  <c:v>0.09</c:v>
                </c:pt>
                <c:pt idx="2">
                  <c:v>0.1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80808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</c:catAx>
      <c:valAx>
        <c:axId val="48672768"/>
        <c:scaling>
          <c:orientation val="minMax"/>
          <c:max val="0.1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</a:rPr>
                  <a:t>绝对误差（mm）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80808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Between val="between"/>
        <c:majorUnit val="0.0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000000"/>
              </a:solidFill>
              <a:latin typeface="微软雅黑"/>
              <a:ea typeface="微软雅黑"/>
              <a:cs typeface="微软雅黑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er accent">
            <a:extLst xmlns:a="http://schemas.openxmlformats.org/drawingml/2006/main">
              <a:ext uri="{FF2B5EF4-FFF2-40B4-BE49-F238E27FC236}">
                <a16:creationId xmlns:a16="http://schemas.microsoft.com/office/drawing/2014/main" id="{3CCFD2F1-425A-4D82-A8F1-3081B58F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99"/>
          </a:solidFill>
          <a:ln xmlns:a="http://schemas.openxmlformats.org/drawingml/2006/main" w="0">
            <a:noFill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CAA80F9-DE22-4A5F-A700-1AE1D400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139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3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3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3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3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3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3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3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3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3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3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两种测量方法的绝对误差分析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11B3E69C-9D3A-424E-930A-7E1E95F1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比较两种测量方法在3组模拟试次中的绝对误差，并汇总样本均值（单位：mm）。</a:t>
            </a:r>
          </a:p>
        </p:txBody>
      </p:sp>
      <p:sp>
        <p:nvSpPr>
          <p:cNvPr id="7" name="Conclusion">
            <a:extLst xmlns:a="http://schemas.openxmlformats.org/drawingml/2006/main">
              <a:ext uri="{FF2B5EF4-FFF2-40B4-BE49-F238E27FC236}">
                <a16:creationId xmlns:a16="http://schemas.microsoft.com/office/drawing/2014/main" id="{6C8436BB-17F2-413E-A332-8619826F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1049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本组合成数据中，方法B的平均绝对误差比方法A低0.03 mm，降低25%。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结果仅用于展示版式与计算方法，不代表真实测量性能。</a:t>
            </a:r>
          </a:p>
        </p:txBody>
      </p:sp>
      <p:sp>
        <p:nvSpPr>
          <p:cNvPr id="8" name="Page number">
            <a:extLst xmlns:a="http://schemas.openxmlformats.org/drawingml/2006/main">
              <a:ext uri="{FF2B5EF4-FFF2-40B4-BE49-F238E27FC236}">
                <a16:creationId xmlns:a16="http://schemas.microsoft.com/office/drawing/2014/main" id="{657B3811-353A-4D75-AB04-EFE21BFA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46747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35" b="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buNone/>
              <a:defRPr sz="1335" b="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buNone/>
              <a:defRPr sz="1335" b="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buNone/>
              <a:defRPr sz="1335" b="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buNone/>
              <a:defRPr sz="1335" b="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buNone/>
              <a:defRPr sz="1335" b="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buNone/>
              <a:defRPr sz="1335" b="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buNone/>
              <a:defRPr sz="1335" b="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buNone/>
              <a:defRPr sz="1335" b="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buNone/>
              <a:defRPr sz="1335" b="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buNone/>
              <a:defRPr sz="1335" b="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pPr>
            <a:r>
              <a:rPr sz="1335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" name="Evidence heading">
            <a:extLst xmlns:a="http://schemas.openxmlformats.org/drawingml/2006/main">
              <a:ext uri="{FF2B5EF4-FFF2-40B4-BE49-F238E27FC236}">
                <a16:creationId xmlns:a16="http://schemas.microsoft.com/office/drawing/2014/main" id="{1CE067EE-A109-4BBB-8749-477D670D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003399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003399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003399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003399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003399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003399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003399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003399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003399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00339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3399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3399"/>
                </a:solidFill>
                <a:latin typeface="微软雅黑"/>
                <a:ea typeface="微软雅黑"/>
                <a:cs typeface="微软雅黑"/>
              </a:rPr>
              <a:t>分试次绝对误差对比</a:t>
            </a:r>
          </a:p>
        </p:txBody>
      </p:sp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666CCC19-E8C1-42A6-9FB3-EABD55458140}"/>
              </a:ext>
            </a:extLst>
          </p:cNvPr>
          <p:cNvGraphicFramePr/>
          <p:nvPr/>
        </p:nvGraphicFramePr>
        <p:xfrm>
          <a:off xmlns:a="http://schemas.openxmlformats.org/drawingml/2006/main" x="400050" y="2124075"/>
          <a:ext xmlns:a="http://schemas.openxmlformats.org/drawingml/2006/main" cx="6762750" cy="3390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b77bbbe84664d5d"/>
          </a:graphicData>
        </a:graphic>
      </p:graphicFrame>
      <p:sp>
        <p:nvSpPr>
          <p:cNvPr id="12" name="Statistics group frame">
            <a:extLst xmlns:a="http://schemas.openxmlformats.org/drawingml/2006/main">
              <a:ext uri="{FF2B5EF4-FFF2-40B4-BE49-F238E27FC236}">
                <a16:creationId xmlns:a16="http://schemas.microsoft.com/office/drawing/2014/main" id="{1C79CB7E-F7C3-4F49-AA66-EAB76C0C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95450"/>
            <a:ext cx="4095750" cy="387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3399"/>
            </a:solidFill>
          </a:ln>
        </p:spPr>
      </p:sp>
      <p:sp>
        <p:nvSpPr>
          <p:cNvPr id="13" name="Statistics group header">
            <a:extLst xmlns:a="http://schemas.openxmlformats.org/drawingml/2006/main">
              <a:ext uri="{FF2B5EF4-FFF2-40B4-BE49-F238E27FC236}">
                <a16:creationId xmlns:a16="http://schemas.microsoft.com/office/drawing/2014/main" id="{CB4FDF4A-0487-42C7-B5EF-131A79B7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954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99"/>
          </a:solidFill>
          <a:ln xmlns:a="http://schemas.openxmlformats.org/drawingml/2006/main" w="0">
            <a:noFill/>
          </a:ln>
        </p:spPr>
      </p:sp>
      <p:sp>
        <p:nvSpPr>
          <p:cNvPr id="14" name="Statistics heading">
            <a:extLst xmlns:a="http://schemas.openxmlformats.org/drawingml/2006/main">
              <a:ext uri="{FF2B5EF4-FFF2-40B4-BE49-F238E27FC236}">
                <a16:creationId xmlns:a16="http://schemas.microsoft.com/office/drawing/2014/main" id="{AE80E6E0-D8D5-4E10-B8D8-674B1C45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695450"/>
            <a:ext cx="3752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样本汇总与计算口径</a:t>
            </a:r>
          </a:p>
        </p:txBody>
      </p:sp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F50034-5781-489B-8DFE-3C6DDEE2B1AF}"/>
              </a:ext>
            </a:extLst>
          </p:cNvPr>
          <p:cNvGraphicFramePr/>
          <p:nvPr/>
        </p:nvGraphicFramePr>
        <p:xfrm>
          <a:off xmlns:a="http://schemas.openxmlformats.org/drawingml/2006/main" x="7867650" y="2286000"/>
          <a:ext xmlns:a="http://schemas.openxmlformats.org/drawingml/2006/main" cx="3752850" cy="16573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1657350"/>
                <a:gridCol w="1047750"/>
                <a:gridCol w="1047750"/>
              </a:tblGrid>
              <a:tr h="414338">
                <a:tc>
                  <a:txBody>
                    <a:bodyPr wrap="none" lIns="76200" tIns="57150" rIns="76200" bIns="5715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00339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统计量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E4"/>
                      </a:solidFill>
                      <a:prstDash val="solid"/>
                    </a:lnL>
                    <a:lnR w="9525">
                      <a:solidFill>
                        <a:srgbClr val="CCD6E4"/>
                      </a:solidFill>
                      <a:prstDash val="solid"/>
                    </a:lnR>
                    <a:lnT w="9525">
                      <a:solidFill>
                        <a:srgbClr val="CCD6E4"/>
                      </a:solidFill>
                      <a:prstDash val="solid"/>
                    </a:lnT>
                    <a:lnB w="9525">
                      <a:solidFill>
                        <a:srgbClr val="CCD6E4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 wrap="none" lIns="76200" tIns="57150" rIns="76200" bIns="5715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00339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方法A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E4"/>
                      </a:solidFill>
                      <a:prstDash val="solid"/>
                    </a:lnR>
                    <a:lnT w="9525">
                      <a:solidFill>
                        <a:srgbClr val="CCD6E4"/>
                      </a:solidFill>
                      <a:prstDash val="solid"/>
                    </a:lnT>
                    <a:lnB w="9525">
                      <a:solidFill>
                        <a:srgbClr val="CCD6E4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 wrap="none" lIns="76200" tIns="57150" rIns="76200" bIns="5715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00339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方法B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E4"/>
                      </a:solidFill>
                      <a:prstDash val="solid"/>
                    </a:lnR>
                    <a:lnT w="9525">
                      <a:solidFill>
                        <a:srgbClr val="CCD6E4"/>
                      </a:solidFill>
                      <a:prstDash val="solid"/>
                    </a:lnT>
                    <a:lnB w="9525">
                      <a:solidFill>
                        <a:srgbClr val="CCD6E4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</a:tr>
              <a:tr h="414338">
                <a:tc>
                  <a:txBody>
                    <a:bodyPr wrap="none" lIns="76200" tIns="57150" rIns="76200" bIns="5715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00339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均值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E4"/>
                      </a:solidFill>
                      <a:prstDash val="solid"/>
                    </a:lnL>
                    <a:lnR w="9525">
                      <a:solidFill>
                        <a:srgbClr val="CCD6E4"/>
                      </a:solidFill>
                      <a:prstDash val="solid"/>
                    </a:lnR>
                    <a:lnB w="9525">
                      <a:solidFill>
                        <a:srgbClr val="CC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57150" rIns="76200" bIns="5715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00339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0.12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E4"/>
                      </a:solidFill>
                      <a:prstDash val="solid"/>
                    </a:lnR>
                    <a:lnB w="9525">
                      <a:solidFill>
                        <a:srgbClr val="CC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57150" rIns="76200" bIns="5715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00339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E4"/>
                      </a:solidFill>
                      <a:prstDash val="solid"/>
                    </a:lnR>
                    <a:lnB w="9525">
                      <a:solidFill>
                        <a:srgbClr val="CC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4338">
                <a:tc>
                  <a:txBody>
                    <a:bodyPr wrap="none" lIns="76200" tIns="57150" rIns="76200" bIns="571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最小值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E4"/>
                      </a:solidFill>
                      <a:prstDash val="solid"/>
                    </a:lnL>
                    <a:lnR w="9525">
                      <a:solidFill>
                        <a:srgbClr val="CCD6E4"/>
                      </a:solidFill>
                      <a:prstDash val="solid"/>
                    </a:lnR>
                    <a:lnB w="9525">
                      <a:solidFill>
                        <a:srgbClr val="CC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57150" rIns="76200" bIns="571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E4"/>
                      </a:solidFill>
                      <a:prstDash val="solid"/>
                    </a:lnR>
                    <a:lnB w="9525">
                      <a:solidFill>
                        <a:srgbClr val="CC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57150" rIns="76200" bIns="571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E4"/>
                      </a:solidFill>
                      <a:prstDash val="solid"/>
                    </a:lnR>
                    <a:lnB w="9525">
                      <a:solidFill>
                        <a:srgbClr val="CC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4338">
                <a:tc>
                  <a:txBody>
                    <a:bodyPr wrap="none" lIns="76200" tIns="57150" rIns="76200" bIns="571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最大值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E4"/>
                      </a:solidFill>
                      <a:prstDash val="solid"/>
                    </a:lnL>
                    <a:lnR w="9525">
                      <a:solidFill>
                        <a:srgbClr val="CCD6E4"/>
                      </a:solidFill>
                      <a:prstDash val="solid"/>
                    </a:lnR>
                    <a:lnB w="9525">
                      <a:solidFill>
                        <a:srgbClr val="CC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57150" rIns="76200" bIns="571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0.14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E4"/>
                      </a:solidFill>
                      <a:prstDash val="solid"/>
                    </a:lnR>
                    <a:lnB w="9525">
                      <a:solidFill>
                        <a:srgbClr val="CC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57150" rIns="76200" bIns="571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E4"/>
                      </a:solidFill>
                      <a:prstDash val="solid"/>
                    </a:lnR>
                    <a:lnB w="9525">
                      <a:solidFill>
                        <a:srgbClr val="CC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Comparison calculations">
            <a:extLst xmlns:a="http://schemas.openxmlformats.org/drawingml/2006/main">
              <a:ext uri="{FF2B5EF4-FFF2-40B4-BE49-F238E27FC236}">
                <a16:creationId xmlns:a16="http://schemas.microsoft.com/office/drawing/2014/main" id="{B274B42F-2FDC-4CDD-848D-E11D9C30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71950"/>
            <a:ext cx="37528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均值差：0.03 mm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降低率：(0.12−0.09)/0.12 = 25%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合成数据，仅用于版式演示</a:t>
            </a:r>
          </a:p>
        </p:txBody>
      </p:sp>
    </p:spTree>
    <p:extLst>
      <p:ext uri="{BB962C8B-B14F-4D97-AF65-F5344CB8AC3E}">
        <p14:creationId xmlns:p14="http://schemas.microsoft.com/office/powerpoint/2010/main" val="10670235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2026-10-30T01:48:00.9560000Z</dcterms:created>
  <dcterms:modified xsi:type="dcterms:W3CDTF">2026-10-30T01:48:00.9560000Z</dcterms:modified>
</coreProperties>
</file>